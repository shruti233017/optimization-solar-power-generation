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322" r:id="rId1"/>
  </p:sldMasterIdLst>
  <p:notesMasterIdLst>
    <p:notesMasterId r:id="rId12"/>
  </p:notesMasterIdLst>
  <p:sldIdLst>
    <p:sldId id="256" r:id="rId2"/>
    <p:sldId id="268" r:id="rId3"/>
    <p:sldId id="258" r:id="rId4"/>
    <p:sldId id="273" r:id="rId5"/>
    <p:sldId id="276" r:id="rId6"/>
    <p:sldId id="267" r:id="rId7"/>
    <p:sldId id="272" r:id="rId8"/>
    <p:sldId id="277" r:id="rId9"/>
    <p:sldId id="27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>
          <p15:clr>
            <a:srgbClr val="9AA0A6"/>
          </p15:clr>
        </p15:guide>
        <p15:guide id="2" pos="5868">
          <p15:clr>
            <a:srgbClr val="9AA0A6"/>
          </p15:clr>
        </p15:guide>
        <p15:guide id="3" orient="horz" pos="157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hXQ1N1MafN4fY+Bs9ldogAdiZ6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>
        <p:guide orient="horz" pos="1570"/>
        <p:guide pos="5868"/>
        <p:guide orient="horz" pos="15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38121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505910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16509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07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570481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23043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40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771099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235248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2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127728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10233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823115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582751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44891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232584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966000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862331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576411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2_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1"/>
          <p:cNvSpPr txBox="1">
            <a:spLocks noGrp="1"/>
          </p:cNvSpPr>
          <p:nvPr>
            <p:ph type="title"/>
          </p:nvPr>
        </p:nvSpPr>
        <p:spPr>
          <a:xfrm>
            <a:off x="228600" y="184714"/>
            <a:ext cx="10515600" cy="52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1"/>
          <p:cNvSpPr txBox="1">
            <a:spLocks noGrp="1"/>
          </p:cNvSpPr>
          <p:nvPr>
            <p:ph type="sldNum" idx="12"/>
          </p:nvPr>
        </p:nvSpPr>
        <p:spPr>
          <a:xfrm>
            <a:off x="11639552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65595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f3a8d4be09_2_86"/>
          <p:cNvSpPr txBox="1">
            <a:spLocks noGrp="1"/>
          </p:cNvSpPr>
          <p:nvPr>
            <p:ph type="title"/>
          </p:nvPr>
        </p:nvSpPr>
        <p:spPr>
          <a:xfrm>
            <a:off x="228600" y="187044"/>
            <a:ext cx="10515600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f3a8d4be09_2_86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10055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920806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421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23" r:id="rId1"/>
    <p:sldLayoutId id="2147484324" r:id="rId2"/>
    <p:sldLayoutId id="2147484325" r:id="rId3"/>
    <p:sldLayoutId id="2147484326" r:id="rId4"/>
    <p:sldLayoutId id="2147484327" r:id="rId5"/>
    <p:sldLayoutId id="2147484328" r:id="rId6"/>
    <p:sldLayoutId id="2147484329" r:id="rId7"/>
    <p:sldLayoutId id="2147484330" r:id="rId8"/>
    <p:sldLayoutId id="2147484331" r:id="rId9"/>
    <p:sldLayoutId id="2147484332" r:id="rId10"/>
    <p:sldLayoutId id="2147484333" r:id="rId11"/>
    <p:sldLayoutId id="2147484334" r:id="rId12"/>
    <p:sldLayoutId id="2147484335" r:id="rId13"/>
    <p:sldLayoutId id="2147484336" r:id="rId14"/>
    <p:sldLayoutId id="2147484337" r:id="rId15"/>
    <p:sldLayoutId id="2147484338" r:id="rId16"/>
    <p:sldLayoutId id="2147484339" r:id="rId17"/>
    <p:sldLayoutId id="2147484340" r:id="rId18"/>
    <p:sldLayoutId id="2147484341" r:id="rId19"/>
    <p:sldLayoutId id="2147484342" r:id="rId20"/>
    <p:sldLayoutId id="2147484343" r:id="rId2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>
            <a:spLocks noGrp="1"/>
          </p:cNvSpPr>
          <p:nvPr>
            <p:ph sz="quarter" idx="13"/>
          </p:nvPr>
        </p:nvSpPr>
        <p:spPr>
          <a:xfrm>
            <a:off x="191784" y="282539"/>
            <a:ext cx="10271026" cy="1381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 fontScale="70000" lnSpcReduction="20000"/>
          </a:bodyPr>
          <a:lstStyle/>
          <a:p>
            <a:pPr lvl="0" indent="-228600">
              <a:buNone/>
            </a:pPr>
            <a:endParaRPr lang="en-US" sz="7200" b="1" dirty="0"/>
          </a:p>
          <a:p>
            <a:pPr lvl="0" indent="-228600">
              <a:buNone/>
            </a:pPr>
            <a:r>
              <a:rPr lang="en-US" sz="4800" b="1" i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In Solar Power Generation</a:t>
            </a:r>
          </a:p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7200" b="1" dirty="0"/>
          </a:p>
        </p:txBody>
      </p:sp>
      <p:pic>
        <p:nvPicPr>
          <p:cNvPr id="75" name="Google Shape;7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86508" y="11637873"/>
            <a:ext cx="158226" cy="163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0D9635-5CD6-16B6-822D-2303C4EFC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880" y="1982912"/>
            <a:ext cx="10130320" cy="45925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088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4399" y="1663662"/>
            <a:ext cx="10363826" cy="4497408"/>
          </a:xfrm>
        </p:spPr>
        <p:txBody>
          <a:bodyPr>
            <a:normAutofit fontScale="92500" lnSpcReduction="20000"/>
          </a:bodyPr>
          <a:lstStyle/>
          <a:p>
            <a:pPr marL="482600" lvl="0" indent="-4572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60000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Problem</a:t>
            </a:r>
          </a:p>
          <a:p>
            <a:pPr marL="482600" lvl="0" indent="-4572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60000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Dictionary</a:t>
            </a:r>
          </a:p>
          <a:p>
            <a:pPr marL="482600" lvl="0" indent="-4572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60000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Architecture - Data Flow Diagram</a:t>
            </a:r>
          </a:p>
          <a:p>
            <a:pPr marL="482600" indent="-4572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60000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 and Scope</a:t>
            </a:r>
            <a:endParaRPr lang="en-US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482600" lvl="0" indent="-4572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60000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Data Analysis</a:t>
            </a:r>
          </a:p>
          <a:p>
            <a:pPr marL="482600" lvl="0" indent="-4572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60000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</a:p>
          <a:p>
            <a:pPr marL="482600" lvl="0" indent="-4572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60000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</a:t>
            </a:r>
          </a:p>
          <a:p>
            <a:pPr marL="482600" lvl="0" indent="-4572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60000"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189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 flipV="1">
            <a:off x="228600" y="-1862254"/>
            <a:ext cx="3863898" cy="490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/>
          <p:cNvSpPr txBox="1"/>
          <p:nvPr/>
        </p:nvSpPr>
        <p:spPr>
          <a:xfrm flipH="1">
            <a:off x="228600" y="125460"/>
            <a:ext cx="11558239" cy="7146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</a:t>
            </a:r>
          </a:p>
          <a:p>
            <a:pPr algn="ctr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company struggles with Frequent fluctuations in energy output caused by variable environmental conditions and system inefficiencies are limiting optimal solar power generation.</a:t>
            </a:r>
            <a:br>
              <a:rPr lang="en-US" sz="2000" dirty="0">
                <a:solidFill>
                  <a:schemeClr val="dk1"/>
                </a:solidFill>
                <a:latin typeface="Aptos Display" panose="020B0004020202020204" pitchFamily="34" charset="0"/>
                <a:cs typeface="Times New Roman"/>
              </a:rPr>
            </a:br>
            <a:endParaRPr lang="en-US" sz="2000" dirty="0">
              <a:solidFill>
                <a:schemeClr val="dk1"/>
              </a:solidFill>
              <a:latin typeface="Aptos Display" panose="020B0004020202020204" pitchFamily="34" charset="0"/>
              <a:cs typeface="Times New Roman"/>
            </a:endParaRPr>
          </a:p>
          <a:p>
            <a:pPr marL="342900" lvl="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Business Constraint: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Minimize operational cost. </a:t>
            </a:r>
          </a:p>
          <a:p>
            <a:pPr marL="342900" lvl="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Business Objective: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Maximize Power Production and Performance.</a:t>
            </a:r>
          </a:p>
          <a:p>
            <a:pPr marL="342900" lvl="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Business Success Criteria: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Achieve a 20-30% increase in profit. </a:t>
            </a:r>
          </a:p>
          <a:p>
            <a:pPr marL="342900" lvl="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Economic Success Criteria: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Increase 30% In revenue, and reduce operational costs through   Improved solar power generation efficiency.</a:t>
            </a:r>
            <a:br>
              <a:rPr lang="en-US" sz="2000" dirty="0">
                <a:solidFill>
                  <a:schemeClr val="dk1"/>
                </a:solidFill>
                <a:latin typeface="Aptos Display" panose="020B0004020202020204" pitchFamily="34" charset="0"/>
                <a:cs typeface="Times New Roman"/>
              </a:rPr>
            </a:br>
            <a:br>
              <a:rPr lang="en-US" sz="2000" dirty="0">
                <a:solidFill>
                  <a:schemeClr val="dk1"/>
                </a:solidFill>
                <a:latin typeface="Aptos Display" panose="020B0004020202020204" pitchFamily="34" charset="0"/>
                <a:cs typeface="Times New Roman"/>
              </a:rPr>
            </a:b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388" y="245328"/>
            <a:ext cx="10921387" cy="836497"/>
          </a:xfrm>
        </p:spPr>
        <p:txBody>
          <a:bodyPr>
            <a:normAutofit fontScale="90000"/>
          </a:bodyPr>
          <a:lstStyle/>
          <a:p>
            <a:pPr lvl="0" algn="ctr"/>
            <a:br>
              <a:rPr lang="en-US" b="1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Dictionary</a:t>
            </a:r>
            <a:br>
              <a:rPr lang="en-US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9BB7E32-3FCA-0EDA-174F-C07551A34E2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91108" y="1448655"/>
            <a:ext cx="10828023" cy="5164017"/>
          </a:xfrm>
        </p:spPr>
      </p:pic>
    </p:spTree>
    <p:extLst>
      <p:ext uri="{BB962C8B-B14F-4D97-AF65-F5344CB8AC3E}">
        <p14:creationId xmlns:p14="http://schemas.microsoft.com/office/powerpoint/2010/main" val="4109061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14F9-5743-E046-6B4A-80EACD7B3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2167-445D-01D2-98D9-00F0684F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48689"/>
            <a:ext cx="11636298" cy="521590"/>
          </a:xfrm>
        </p:spPr>
        <p:txBody>
          <a:bodyPr/>
          <a:lstStyle/>
          <a:p>
            <a:r>
              <a:rPr lang="en-US" dirty="0"/>
              <a:t>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FEF3C6-204B-448C-E969-84647DA91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02" y="526550"/>
            <a:ext cx="11309196" cy="580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20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307" y="399970"/>
            <a:ext cx="11531028" cy="6001552"/>
          </a:xfrm>
        </p:spPr>
        <p:txBody>
          <a:bodyPr/>
          <a:lstStyle/>
          <a:p>
            <a:pPr marL="216000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Project Overview</a:t>
            </a:r>
            <a:br>
              <a:rPr lang="en-US" sz="20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Optimized solar power generation by analyzing inverter performance and weather data.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Identified how irradiance, temperature, and rain affect energy output and efficiency.</a:t>
            </a:r>
            <a:br>
              <a:rPr lang="en-US" sz="2000" cap="none" dirty="0"/>
            </a:b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b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Integration: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Merged inverter (Watts) and weather data — irradiance (W/m²), temperature (°C), and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rain.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Cleaned, formatted, and standardized timestamps for accurate analysis.</a:t>
            </a:r>
            <a:b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(Python):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Explored trends and correlations between weather and power output.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Analysis: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Calculated average inverter output, irradiance levels, and profit per kWh.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Visualization: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Built dashboards for generation trends, efficiency, and weather impact.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Impact: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Improved energy efficiency, reduced losses, and projected 30% revenue growth.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726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663" y="301083"/>
            <a:ext cx="11155564" cy="64677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 Exploratory Data Analysis [EDA]</a:t>
            </a:r>
            <a:endParaRPr lang="en-US" sz="3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4FF0BE-6697-3A88-BD17-50714A24B29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72611" y="1387012"/>
            <a:ext cx="11065268" cy="4900772"/>
          </a:xfrm>
        </p:spPr>
      </p:pic>
    </p:spTree>
    <p:extLst>
      <p:ext uri="{BB962C8B-B14F-4D97-AF65-F5344CB8AC3E}">
        <p14:creationId xmlns:p14="http://schemas.microsoft.com/office/powerpoint/2010/main" val="1277319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EB472-2484-F66B-3264-F0CD30BB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93197"/>
          </a:xfrm>
        </p:spPr>
        <p:txBody>
          <a:bodyPr/>
          <a:lstStyle/>
          <a:p>
            <a:pPr algn="ctr"/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41C1DB-8403-48E0-BED0-3DFA282C91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1801814"/>
            <a:ext cx="10953413" cy="4092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Removed unwanted rows, renamed columns, and trimmed spaces.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Type Conversion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Converted date and inverter readings to proper formats.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Integration (Merging)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Combined Inverter and WMS datasets on Date Time.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Standardized date-time and rounded numeric values.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Quality Check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Checked for duplicates and missing values before export.</a:t>
            </a:r>
          </a:p>
        </p:txBody>
      </p:sp>
    </p:spTree>
    <p:extLst>
      <p:ext uri="{BB962C8B-B14F-4D97-AF65-F5344CB8AC3E}">
        <p14:creationId xmlns:p14="http://schemas.microsoft.com/office/powerpoint/2010/main" val="702362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07F0E-A93D-F881-ED93-6A3718761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10" y="261991"/>
            <a:ext cx="10364451" cy="52191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Data Visualization </a:t>
            </a: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252EFDB-D88F-1556-DD9A-C87FC34A7D8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88054" y="1068512"/>
            <a:ext cx="11004926" cy="5527497"/>
          </a:xfrm>
        </p:spPr>
      </p:pic>
    </p:spTree>
    <p:extLst>
      <p:ext uri="{BB962C8B-B14F-4D97-AF65-F5344CB8AC3E}">
        <p14:creationId xmlns:p14="http://schemas.microsoft.com/office/powerpoint/2010/main" val="554312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479" y="512956"/>
            <a:ext cx="11021748" cy="61331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4242E72-266D-20D3-FCA5-C3239ABA66D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359220" y="1274087"/>
            <a:ext cx="11394415" cy="4923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 operations on cloudy days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irradiance and weather data to reduce power fluctuations.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 maintenance low-generation hours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(early morning or evening) to avoid production loss.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panel cooling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better ventilation or reflective coatings to maintain efficiency.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regular panel cleaning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prevent dust buildup and sustain steady output.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real-time performance in Power BI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act quickly on low-output alerts.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energy storage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save excess power for rainy or low-sun periods.</a:t>
            </a:r>
          </a:p>
        </p:txBody>
      </p:sp>
    </p:spTree>
    <p:extLst>
      <p:ext uri="{BB962C8B-B14F-4D97-AF65-F5344CB8AC3E}">
        <p14:creationId xmlns:p14="http://schemas.microsoft.com/office/powerpoint/2010/main" val="3299540354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3165</TotalTime>
  <Words>414</Words>
  <Application>Microsoft Office PowerPoint</Application>
  <PresentationFormat>Widescreen</PresentationFormat>
  <Paragraphs>36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 Display</vt:lpstr>
      <vt:lpstr>Arial</vt:lpstr>
      <vt:lpstr>Calibri</vt:lpstr>
      <vt:lpstr>Corbel</vt:lpstr>
      <vt:lpstr>Georgia</vt:lpstr>
      <vt:lpstr>Times New Roman</vt:lpstr>
      <vt:lpstr>Wingdings</vt:lpstr>
      <vt:lpstr>Depth</vt:lpstr>
      <vt:lpstr>PowerPoint Presentation</vt:lpstr>
      <vt:lpstr>Content</vt:lpstr>
      <vt:lpstr>PowerPoint Presentation</vt:lpstr>
      <vt:lpstr> Data Dictionary </vt:lpstr>
      <vt:lpstr>               </vt:lpstr>
      <vt:lpstr>Project Overview Optimized solar power generation by analyzing inverter performance and weather data. Identified how irradiance, temperature, and rain affect energy output and efficiency. Scope Data Integration: Merged inverter (Watts) and weather data — irradiance (W/m²), temperature (°C), and rain. Data Preprocessing: Cleaned, formatted, and standardized timestamps for accurate analysis. EDA (Python): Explored trends and correlations between weather and power output. SQL Analysis: Calculated average inverter output, irradiance levels, and profit per kWh. Power BI Visualization: Built dashboards for generation trends, efficiency, and weather impact. Business Impact: Improved energy efficiency, reduced losses, and projected 30% revenue growth. </vt:lpstr>
      <vt:lpstr> Exploratory Data Analysis [EDA]</vt:lpstr>
      <vt:lpstr>Data Preprocessing</vt:lpstr>
      <vt:lpstr>Data Visualization </vt:lpstr>
      <vt:lpstr>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VIKAS BARTHWAL</dc:creator>
  <cp:lastModifiedBy>Shruti Chigare</cp:lastModifiedBy>
  <cp:revision>54</cp:revision>
  <dcterms:created xsi:type="dcterms:W3CDTF">2022-02-16T01:47:29Z</dcterms:created>
  <dcterms:modified xsi:type="dcterms:W3CDTF">2025-10-22T04:21:23Z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49deba9595b64033890e84905b5c3bc0</vt:lpwstr>
  </property>
</Properties>
</file>