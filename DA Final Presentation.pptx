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4322" r:id="rId1"/>
  </p:sldMasterIdLst>
  <p:notesMasterIdLst>
    <p:notesMasterId r:id="rId12"/>
  </p:notesMasterIdLst>
  <p:sldIdLst>
    <p:sldId id="256" r:id="rId2"/>
    <p:sldId id="268" r:id="rId3"/>
    <p:sldId id="258" r:id="rId4"/>
    <p:sldId id="273" r:id="rId5"/>
    <p:sldId id="276" r:id="rId6"/>
    <p:sldId id="267" r:id="rId7"/>
    <p:sldId id="272" r:id="rId8"/>
    <p:sldId id="277" r:id="rId9"/>
    <p:sldId id="274" r:id="rId10"/>
    <p:sldId id="278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570">
          <p15:clr>
            <a:srgbClr val="9AA0A6"/>
          </p15:clr>
        </p15:guide>
        <p15:guide id="2" pos="5868">
          <p15:clr>
            <a:srgbClr val="9AA0A6"/>
          </p15:clr>
        </p15:guide>
        <p15:guide id="3" orient="horz" pos="1571">
          <p15:clr>
            <a:srgbClr val="A4A3A4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6" roundtripDataSignature="AMtx7mhXQ1N1MafN4fY+Bs9ldogAdiZ6C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4" autoAdjust="0"/>
    <p:restoredTop sz="85034" autoAdjust="0"/>
  </p:normalViewPr>
  <p:slideViewPr>
    <p:cSldViewPr snapToGrid="0">
      <p:cViewPr varScale="1">
        <p:scale>
          <a:sx n="53" d="100"/>
          <a:sy n="53" d="100"/>
        </p:scale>
        <p:origin x="1176" y="24"/>
      </p:cViewPr>
      <p:guideLst>
        <p:guide orient="horz" pos="1570"/>
        <p:guide pos="5868"/>
        <p:guide orient="horz" pos="157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customschemas.google.com/relationships/presentationmetadata" Target="metadata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183812132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" name="Google Shape;70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09800" y="4464028"/>
            <a:ext cx="9144000" cy="1641490"/>
          </a:xfrm>
        </p:spPr>
        <p:txBody>
          <a:bodyPr wrap="none" anchor="t">
            <a:normAutofit/>
          </a:bodyPr>
          <a:lstStyle>
            <a:lvl1pPr algn="r">
              <a:defRPr sz="9600" b="0" spc="-300">
                <a:gradFill flip="none" rotWithShape="1">
                  <a:gsLst>
                    <a:gs pos="32000">
                      <a:schemeClr val="tx1">
                        <a:lumMod val="89000"/>
                      </a:schemeClr>
                    </a:gs>
                    <a:gs pos="0">
                      <a:schemeClr val="bg1">
                        <a:lumMod val="41000"/>
                        <a:lumOff val="59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8100000" scaled="1"/>
                  <a:tileRect/>
                </a:gradFill>
                <a:effectLst>
                  <a:outerShdw blurRad="469900" dist="342900" dir="5400000" sy="-20000" rotWithShape="0">
                    <a:prstClr val="black">
                      <a:alpha val="66000"/>
                    </a:prstClr>
                  </a:outerShdw>
                </a:effectLst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09799" y="3694375"/>
            <a:ext cx="9144000" cy="754025"/>
          </a:xfrm>
        </p:spPr>
        <p:txBody>
          <a:bodyPr anchor="b">
            <a:normAutofit/>
          </a:bodyPr>
          <a:lstStyle>
            <a:lvl1pPr marL="0" indent="0" algn="r">
              <a:buNone/>
              <a:defRPr sz="3200" b="0">
                <a:gradFill flip="none" rotWithShape="1"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  <a:tileRect/>
                </a:gra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 sz="15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825059102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 sz="15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281650921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ctrTitle"/>
          </p:nvPr>
        </p:nvSpPr>
        <p:spPr>
          <a:xfrm>
            <a:off x="854532" y="4464028"/>
            <a:ext cx="9144000" cy="1641490"/>
          </a:xfrm>
        </p:spPr>
        <p:txBody>
          <a:bodyPr wrap="none" anchor="t">
            <a:normAutofit/>
          </a:bodyPr>
          <a:lstStyle>
            <a:lvl1pPr algn="l">
              <a:defRPr sz="9600" b="0" spc="-300">
                <a:gradFill flip="none" rotWithShape="1">
                  <a:gsLst>
                    <a:gs pos="32000">
                      <a:schemeClr val="tx1">
                        <a:lumMod val="89000"/>
                      </a:schemeClr>
                    </a:gs>
                    <a:gs pos="0">
                      <a:schemeClr val="bg1">
                        <a:lumMod val="47000"/>
                        <a:lumOff val="53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8100000" scaled="1"/>
                  <a:tileRect/>
                </a:gradFill>
                <a:effectLst>
                  <a:outerShdw blurRad="469900" dist="342900" dir="5400000" sy="-20000" rotWithShape="0">
                    <a:prstClr val="black">
                      <a:alpha val="66000"/>
                    </a:prstClr>
                  </a:outerShdw>
                </a:effectLst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ubtitle 2"/>
          <p:cNvSpPr>
            <a:spLocks noGrp="1"/>
          </p:cNvSpPr>
          <p:nvPr>
            <p:ph type="subTitle" idx="1"/>
          </p:nvPr>
        </p:nvSpPr>
        <p:spPr>
          <a:xfrm>
            <a:off x="854532" y="3693674"/>
            <a:ext cx="9144000" cy="754025"/>
          </a:xfrm>
        </p:spPr>
        <p:txBody>
          <a:bodyPr anchor="b">
            <a:normAutofit/>
          </a:bodyPr>
          <a:lstStyle>
            <a:lvl1pPr marL="0" indent="0" algn="l">
              <a:buNone/>
              <a:defRPr sz="3200" b="0">
                <a:gradFill flip="none" rotWithShape="1"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  <a:tileRect/>
                </a:gra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75073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20000" y="1825625"/>
            <a:ext cx="5025216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19840" y="1825625"/>
            <a:ext cx="503396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 sz="15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195704816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20000" y="1681163"/>
            <a:ext cx="5025216" cy="823912"/>
          </a:xfrm>
        </p:spPr>
        <p:txBody>
          <a:bodyPr anchor="b"/>
          <a:lstStyle>
            <a:lvl1pPr marL="0" indent="0">
              <a:buNone/>
              <a:defRPr sz="2400" b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20000" y="2505075"/>
            <a:ext cx="5025216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19840" y="1681163"/>
            <a:ext cx="5035548" cy="823912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19840" y="2505075"/>
            <a:ext cx="503554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 sz="15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422304357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35406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 sz="15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27710992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20000" y="2057400"/>
            <a:ext cx="3652025" cy="3811588"/>
          </a:xfrm>
        </p:spPr>
        <p:txBody>
          <a:bodyPr/>
          <a:lstStyle>
            <a:lvl1pPr marL="0" indent="0">
              <a:buNone/>
              <a:defRPr sz="160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1"/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 sz="15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672352487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20000" y="2057400"/>
            <a:ext cx="3652025" cy="3811588"/>
          </a:xfrm>
        </p:spPr>
        <p:txBody>
          <a:bodyPr/>
          <a:lstStyle>
            <a:lvl1pPr marL="0" indent="0">
              <a:buNone/>
              <a:defRPr sz="160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1"/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69283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367160"/>
            <a:ext cx="10515600" cy="81935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39788" y="987425"/>
            <a:ext cx="10515600" cy="337973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5186516"/>
            <a:ext cx="10514012" cy="682472"/>
          </a:xfrm>
        </p:spPr>
        <p:txBody>
          <a:bodyPr/>
          <a:lstStyle>
            <a:lvl1pPr marL="0" indent="0">
              <a:buNone/>
              <a:defRPr sz="160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1"/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 sz="15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161277282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353434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4489399"/>
            <a:ext cx="10514012" cy="1501826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 sz="15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561023346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365125"/>
            <a:ext cx="9302752" cy="2992904"/>
          </a:xfrm>
        </p:spPr>
        <p:txBody>
          <a:bodyPr anchor="ctr"/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8200" y="4501729"/>
            <a:ext cx="10512424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 sz="15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111044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198231159"/>
      </p:ext>
    </p:extLst>
  </p:cSld>
  <p:clrMapOvr>
    <a:masterClrMapping/>
  </p:clrMapOvr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2326967"/>
            <a:ext cx="10515600" cy="2511835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4850581"/>
            <a:ext cx="10514012" cy="1140644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 sz="15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135827519"/>
      </p:ext>
    </p:extLst>
  </p:cSld>
  <p:clrMapOvr>
    <a:masterClrMapping/>
  </p:clrMapOvr>
  <p:hf sldNum="0"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337282" y="188595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356798" y="257175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87994" y="1885950"/>
            <a:ext cx="2936241" cy="576262"/>
          </a:xfrm>
        </p:spPr>
        <p:txBody>
          <a:bodyPr vert="horz" lIns="91440" tIns="45720" rIns="91440" bIns="45720" rtlCol="0" anchor="b">
            <a:noAutofit/>
          </a:bodyPr>
          <a:lstStyle>
            <a:lvl1pPr>
              <a:buNone/>
              <a:defRPr lang="en-US" sz="2400" b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77441" y="257175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29035" y="1885950"/>
            <a:ext cx="2932113" cy="576262"/>
          </a:xfrm>
        </p:spPr>
        <p:txBody>
          <a:bodyPr vert="horz" lIns="91440" tIns="45720" rIns="91440" bIns="45720" rtlCol="0" anchor="b">
            <a:noAutofit/>
          </a:bodyPr>
          <a:lstStyle>
            <a:lvl1pPr>
              <a:buNone/>
              <a:defRPr lang="en-US" sz="2400" b="0" dirty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29035" y="257175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 sz="15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44489165"/>
      </p:ext>
    </p:extLst>
  </p:cSld>
  <p:clrMapOvr>
    <a:masterClrMapping/>
  </p:clrMapOvr>
  <p:hf sldNum="0"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332085" y="4297503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gradFill>
                  <a:gsLst>
                    <a:gs pos="34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41000"/>
                        <a:lumOff val="59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</a:gra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332085" y="2256354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332085" y="4873765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68997" y="4297503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gradFill>
                  <a:gsLst>
                    <a:gs pos="34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41000"/>
                        <a:lumOff val="59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</a:gra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68996" y="2256354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567644" y="4873764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04322" y="4297503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gradFill>
                  <a:gsLst>
                    <a:gs pos="34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41000"/>
                        <a:lumOff val="59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</a:gra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04321" y="2256354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04197" y="4873762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 sz="15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552325845"/>
      </p:ext>
    </p:extLst>
  </p:cSld>
  <p:clrMapOvr>
    <a:masterClrMapping/>
  </p:clrMapOvr>
  <p:hf sldNum="0"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 sz="15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09660005"/>
      </p:ext>
    </p:extLst>
  </p:cSld>
  <p:clrMapOvr>
    <a:masterClrMapping/>
  </p:clrMapOvr>
  <p:hf sldNum="0"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 sz="15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518623313"/>
      </p:ext>
    </p:extLst>
  </p:cSld>
  <p:clrMapOvr>
    <a:masterClrMapping/>
  </p:clrMapOvr>
  <p:hf sldNum="0" hdr="0" ftr="0" dt="0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 sz="15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595764115"/>
      </p:ext>
    </p:extLst>
  </p:cSld>
  <p:clrMapOvr>
    <a:masterClrMapping/>
  </p:clrMapOvr>
  <p:hf sldNum="0" hdr="0" ftr="0" dt="0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>
  <p:cSld name="2_Title and Content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1"/>
          <p:cNvSpPr txBox="1">
            <a:spLocks noGrp="1"/>
          </p:cNvSpPr>
          <p:nvPr>
            <p:ph type="title"/>
          </p:nvPr>
        </p:nvSpPr>
        <p:spPr>
          <a:xfrm>
            <a:off x="228600" y="184714"/>
            <a:ext cx="10515600" cy="5216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45675" rIns="91400" bIns="45675" anchor="ctr" anchorCtr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Georgia"/>
              <a:buNone/>
              <a:defRPr sz="3100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61"/>
          <p:cNvSpPr txBox="1">
            <a:spLocks noGrp="1"/>
          </p:cNvSpPr>
          <p:nvPr>
            <p:ph type="sldNum" idx="12"/>
          </p:nvPr>
        </p:nvSpPr>
        <p:spPr>
          <a:xfrm>
            <a:off x="11639552" y="6350000"/>
            <a:ext cx="390525" cy="288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45675" rIns="91400" bIns="456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98655956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 1">
  <p:cSld name="Title and Content 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gf3a8d4be09_2_86"/>
          <p:cNvSpPr txBox="1">
            <a:spLocks noGrp="1"/>
          </p:cNvSpPr>
          <p:nvPr>
            <p:ph type="title"/>
          </p:nvPr>
        </p:nvSpPr>
        <p:spPr>
          <a:xfrm>
            <a:off x="228600" y="187044"/>
            <a:ext cx="10515600" cy="517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45675" rIns="91400" bIns="45675" anchor="ctr" anchorCtr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Georgia"/>
              <a:buNone/>
              <a:defRPr sz="3100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gf3a8d4be09_2_86"/>
          <p:cNvSpPr txBox="1">
            <a:spLocks noGrp="1"/>
          </p:cNvSpPr>
          <p:nvPr>
            <p:ph type="sldNum" idx="12"/>
          </p:nvPr>
        </p:nvSpPr>
        <p:spPr>
          <a:xfrm>
            <a:off x="11639549" y="6350003"/>
            <a:ext cx="390600" cy="28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45675" rIns="91400" bIns="456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88100556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51060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6172200" y="2367092"/>
            <a:ext cx="5105400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 sz="15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919208067"/>
      </p:ext>
    </p:extLst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20000" y="1825625"/>
            <a:ext cx="102338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38000"/>
                        <a:lumOff val="62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5400000" scaled="1"/>
                  <a:tileRect/>
                </a:gra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38000"/>
                        <a:lumOff val="62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5400000" scaled="1"/>
                  <a:tileRect/>
                </a:gra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38000"/>
                        <a:lumOff val="62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5400000" scaled="1"/>
                  <a:tileRect/>
                </a:gradFill>
              </a:defRPr>
            </a:lvl1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 sz="15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3142144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323" r:id="rId1"/>
    <p:sldLayoutId id="2147484324" r:id="rId2"/>
    <p:sldLayoutId id="2147484325" r:id="rId3"/>
    <p:sldLayoutId id="2147484326" r:id="rId4"/>
    <p:sldLayoutId id="2147484327" r:id="rId5"/>
    <p:sldLayoutId id="2147484328" r:id="rId6"/>
    <p:sldLayoutId id="2147484329" r:id="rId7"/>
    <p:sldLayoutId id="2147484330" r:id="rId8"/>
    <p:sldLayoutId id="2147484331" r:id="rId9"/>
    <p:sldLayoutId id="2147484332" r:id="rId10"/>
    <p:sldLayoutId id="2147484333" r:id="rId11"/>
    <p:sldLayoutId id="2147484334" r:id="rId12"/>
    <p:sldLayoutId id="2147484335" r:id="rId13"/>
    <p:sldLayoutId id="2147484336" r:id="rId14"/>
    <p:sldLayoutId id="2147484337" r:id="rId15"/>
    <p:sldLayoutId id="2147484338" r:id="rId16"/>
    <p:sldLayoutId id="2147484339" r:id="rId17"/>
    <p:sldLayoutId id="2147484340" r:id="rId18"/>
    <p:sldLayoutId id="2147484341" r:id="rId19"/>
    <p:sldLayoutId id="2147484342" r:id="rId20"/>
    <p:sldLayoutId id="2147484343" r:id="rId2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400" b="0" kern="1200">
          <a:gradFill flip="none" rotWithShape="1">
            <a:gsLst>
              <a:gs pos="28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  <a:tileRect/>
          </a:gra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9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8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"/>
          <p:cNvSpPr txBox="1">
            <a:spLocks noGrp="1"/>
          </p:cNvSpPr>
          <p:nvPr>
            <p:ph sz="quarter" idx="13"/>
          </p:nvPr>
        </p:nvSpPr>
        <p:spPr>
          <a:xfrm>
            <a:off x="191784" y="282539"/>
            <a:ext cx="10271026" cy="13818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45675" rIns="91400" bIns="45675" anchor="t" anchorCtr="0">
            <a:normAutofit fontScale="70000" lnSpcReduction="20000"/>
          </a:bodyPr>
          <a:lstStyle/>
          <a:p>
            <a:pPr lvl="0" indent="-228600">
              <a:buNone/>
            </a:pPr>
            <a:endParaRPr lang="en-US" sz="7200" b="1" dirty="0"/>
          </a:p>
          <a:p>
            <a:pPr lvl="0" indent="-228600">
              <a:buNone/>
            </a:pPr>
            <a:r>
              <a:rPr lang="en-US" sz="4800" b="1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6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Optimization In Solar Power Generation</a:t>
            </a:r>
          </a:p>
          <a:p>
            <a:pPr marL="457200" lvl="0" indent="-22860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endParaRPr sz="7200" b="1" dirty="0"/>
          </a:p>
        </p:txBody>
      </p:sp>
      <p:pic>
        <p:nvPicPr>
          <p:cNvPr id="75" name="Google Shape;75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4086508" y="11637873"/>
            <a:ext cx="158226" cy="163709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840D9635-5CD6-16B6-822D-2303C4EFCFC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56880" y="1982912"/>
            <a:ext cx="10130320" cy="459254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808839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>
          <a:xfrm>
            <a:off x="914399" y="1663662"/>
            <a:ext cx="10363826" cy="4497408"/>
          </a:xfrm>
        </p:spPr>
        <p:txBody>
          <a:bodyPr>
            <a:normAutofit fontScale="92500" lnSpcReduction="20000"/>
          </a:bodyPr>
          <a:lstStyle/>
          <a:p>
            <a:pPr marL="482600" lvl="0" indent="-457200">
              <a:lnSpc>
                <a:spcPct val="150000"/>
              </a:lnSpc>
              <a:spcBef>
                <a:spcPts val="0"/>
              </a:spcBef>
              <a:buClr>
                <a:schemeClr val="tx1"/>
              </a:buClr>
              <a:buSzPct val="160000"/>
            </a:pPr>
            <a:r>
              <a:rPr lang="en-US" dirty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Business Problem</a:t>
            </a:r>
          </a:p>
          <a:p>
            <a:pPr marL="482600" lvl="0" indent="-457200">
              <a:lnSpc>
                <a:spcPct val="150000"/>
              </a:lnSpc>
              <a:spcBef>
                <a:spcPts val="0"/>
              </a:spcBef>
              <a:buClr>
                <a:schemeClr val="tx1"/>
              </a:buClr>
              <a:buSzPct val="160000"/>
            </a:pPr>
            <a:r>
              <a:rPr lang="en-US" dirty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Data Dictionary</a:t>
            </a:r>
          </a:p>
          <a:p>
            <a:pPr marL="482600" lvl="0" indent="-457200">
              <a:lnSpc>
                <a:spcPct val="150000"/>
              </a:lnSpc>
              <a:spcBef>
                <a:spcPts val="0"/>
              </a:spcBef>
              <a:buClr>
                <a:schemeClr val="tx1"/>
              </a:buClr>
              <a:buSzPct val="160000"/>
            </a:pPr>
            <a:r>
              <a:rPr lang="en-US" dirty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Project Architecture - Data Flow Diagram</a:t>
            </a:r>
          </a:p>
          <a:p>
            <a:pPr marL="482600" indent="-457200">
              <a:lnSpc>
                <a:spcPct val="150000"/>
              </a:lnSpc>
              <a:spcBef>
                <a:spcPts val="0"/>
              </a:spcBef>
              <a:buClr>
                <a:schemeClr val="tx1"/>
              </a:buClr>
              <a:buSzPct val="160000"/>
            </a:pPr>
            <a:r>
              <a:rPr lang="en-US" dirty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Project Overview and Scope</a:t>
            </a:r>
            <a:endParaRPr lang="en-US" dirty="0">
              <a:solidFill>
                <a:schemeClr val="tx1"/>
              </a:solidFill>
              <a:latin typeface="Times New Roman"/>
              <a:ea typeface="Times New Roman"/>
              <a:cs typeface="Times New Roman"/>
            </a:endParaRPr>
          </a:p>
          <a:p>
            <a:pPr marL="482600" lvl="0" indent="-457200">
              <a:lnSpc>
                <a:spcPct val="150000"/>
              </a:lnSpc>
              <a:spcBef>
                <a:spcPts val="0"/>
              </a:spcBef>
              <a:buClr>
                <a:schemeClr val="tx1"/>
              </a:buClr>
              <a:buSzPct val="160000"/>
            </a:pPr>
            <a:r>
              <a:rPr lang="en-US" dirty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Exploratory Data Analysis</a:t>
            </a:r>
          </a:p>
          <a:p>
            <a:pPr marL="482600" lvl="0" indent="-457200">
              <a:lnSpc>
                <a:spcPct val="150000"/>
              </a:lnSpc>
              <a:spcBef>
                <a:spcPts val="0"/>
              </a:spcBef>
              <a:buClr>
                <a:schemeClr val="tx1"/>
              </a:buClr>
              <a:buSzPct val="160000"/>
            </a:pPr>
            <a:r>
              <a:rPr lang="en-US" dirty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Data Preprocessing</a:t>
            </a:r>
          </a:p>
          <a:p>
            <a:pPr marL="482600" lvl="0" indent="-457200">
              <a:lnSpc>
                <a:spcPct val="150000"/>
              </a:lnSpc>
              <a:spcBef>
                <a:spcPts val="0"/>
              </a:spcBef>
              <a:buClr>
                <a:schemeClr val="tx1"/>
              </a:buClr>
              <a:buSzPct val="160000"/>
            </a:pPr>
            <a:r>
              <a:rPr lang="en-US" dirty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Data Visualization</a:t>
            </a:r>
          </a:p>
          <a:p>
            <a:pPr marL="482600" lvl="0" indent="-457200">
              <a:lnSpc>
                <a:spcPct val="150000"/>
              </a:lnSpc>
              <a:spcBef>
                <a:spcPts val="0"/>
              </a:spcBef>
              <a:buClr>
                <a:schemeClr val="tx1"/>
              </a:buClr>
              <a:buSzPct val="160000"/>
            </a:pPr>
            <a:r>
              <a:rPr lang="en-US" dirty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Solution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71896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6"/>
          <p:cNvSpPr txBox="1">
            <a:spLocks noGrp="1"/>
          </p:cNvSpPr>
          <p:nvPr>
            <p:ph type="title"/>
          </p:nvPr>
        </p:nvSpPr>
        <p:spPr>
          <a:xfrm flipV="1">
            <a:off x="228600" y="-1862254"/>
            <a:ext cx="3863898" cy="4906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00" tIns="45675" rIns="91400" bIns="45675" anchor="ctr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Georgia"/>
              <a:buNone/>
            </a:pPr>
            <a:endParaRPr sz="3200" b="1" dirty="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2" name="TextBox 1"/>
          <p:cNvSpPr txBox="1"/>
          <p:nvPr/>
        </p:nvSpPr>
        <p:spPr>
          <a:xfrm flipH="1">
            <a:off x="228600" y="125460"/>
            <a:ext cx="11558239" cy="71465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Business Problem </a:t>
            </a:r>
          </a:p>
          <a:p>
            <a:pPr algn="ctr"/>
            <a:endParaRPr lang="en-US" sz="3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lvl="0" indent="-285750">
              <a:lnSpc>
                <a:spcPct val="200000"/>
              </a:lnSpc>
              <a:buFont typeface="Wingdings" panose="05000000000000000000" pitchFamily="2" charset="2"/>
              <a:buChar char="q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The company struggles with Frequent fluctuations in energy output caused by variable environmental conditions and system inefficiencies are limiting optimal solar power generation.</a:t>
            </a:r>
            <a:br>
              <a:rPr lang="en-US" sz="2000" dirty="0">
                <a:solidFill>
                  <a:schemeClr val="dk1"/>
                </a:solidFill>
                <a:latin typeface="Aptos Display" panose="020B0004020202020204" pitchFamily="34" charset="0"/>
                <a:cs typeface="Times New Roman"/>
              </a:rPr>
            </a:br>
            <a:endParaRPr lang="en-US" sz="2000" dirty="0">
              <a:solidFill>
                <a:schemeClr val="dk1"/>
              </a:solidFill>
              <a:latin typeface="Aptos Display" panose="020B0004020202020204" pitchFamily="34" charset="0"/>
              <a:cs typeface="Times New Roman"/>
            </a:endParaRPr>
          </a:p>
          <a:p>
            <a:pPr marL="342900" lvl="0" indent="-342900">
              <a:lnSpc>
                <a:spcPct val="200000"/>
              </a:lnSpc>
              <a:buFont typeface="Wingdings" pitchFamily="2" charset="2"/>
              <a:buChar char="Ø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Business Constraint: 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Minimize operational cost. </a:t>
            </a:r>
          </a:p>
          <a:p>
            <a:pPr marL="342900" lvl="0" indent="-342900">
              <a:lnSpc>
                <a:spcPct val="200000"/>
              </a:lnSpc>
              <a:buFont typeface="Wingdings" pitchFamily="2" charset="2"/>
              <a:buChar char="Ø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Business Objective: 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Maximize Power Production and Performance.</a:t>
            </a:r>
          </a:p>
          <a:p>
            <a:pPr marL="342900" lvl="0" indent="-342900">
              <a:lnSpc>
                <a:spcPct val="200000"/>
              </a:lnSpc>
              <a:buFont typeface="Wingdings" pitchFamily="2" charset="2"/>
              <a:buChar char="Ø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Business Success Criteria: 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Achieve a 20-30% increase in profit. </a:t>
            </a:r>
          </a:p>
          <a:p>
            <a:pPr marL="342900" lvl="0" indent="-342900">
              <a:lnSpc>
                <a:spcPct val="200000"/>
              </a:lnSpc>
              <a:buFont typeface="Wingdings" pitchFamily="2" charset="2"/>
              <a:buChar char="Ø"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Economic Success Criteria: 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Increase 30% In revenue, and reduce operational costs through   Improved solar power generation efficiency.</a:t>
            </a:r>
            <a:br>
              <a:rPr lang="en-US" sz="2000" dirty="0">
                <a:solidFill>
                  <a:schemeClr val="dk1"/>
                </a:solidFill>
                <a:latin typeface="Aptos Display" panose="020B0004020202020204" pitchFamily="34" charset="0"/>
                <a:cs typeface="Times New Roman"/>
              </a:rPr>
            </a:br>
            <a:br>
              <a:rPr lang="en-US" sz="2000" dirty="0">
                <a:solidFill>
                  <a:schemeClr val="dk1"/>
                </a:solidFill>
                <a:latin typeface="Aptos Display" panose="020B0004020202020204" pitchFamily="34" charset="0"/>
                <a:cs typeface="Times New Roman"/>
              </a:rPr>
            </a:b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7388" y="245328"/>
            <a:ext cx="10921387" cy="836497"/>
          </a:xfrm>
        </p:spPr>
        <p:txBody>
          <a:bodyPr>
            <a:normAutofit fontScale="90000"/>
          </a:bodyPr>
          <a:lstStyle/>
          <a:p>
            <a:pPr lvl="0" algn="ctr"/>
            <a:br>
              <a:rPr lang="en-US" b="1" cap="none" dirty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b="1" cap="none" dirty="0">
                <a:solidFill>
                  <a:schemeClr val="tx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Data Dictionary</a:t>
            </a:r>
            <a:br>
              <a:rPr lang="en-US" cap="none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endParaRPr lang="en-US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29BB7E32-3FCA-0EDA-174F-C07551A34E23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791108" y="1448655"/>
            <a:ext cx="10828023" cy="5164017"/>
          </a:xfrm>
        </p:spPr>
      </p:pic>
    </p:spTree>
    <p:extLst>
      <p:ext uri="{BB962C8B-B14F-4D97-AF65-F5344CB8AC3E}">
        <p14:creationId xmlns:p14="http://schemas.microsoft.com/office/powerpoint/2010/main" val="41090613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0D14F9-5743-E046-6B4A-80EACD7B34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062167-445D-01D2-98D9-00F0684F3D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600" y="3048689"/>
            <a:ext cx="11636298" cy="521590"/>
          </a:xfrm>
        </p:spPr>
        <p:txBody>
          <a:bodyPr/>
          <a:lstStyle/>
          <a:p>
            <a:r>
              <a:rPr lang="en-US" dirty="0"/>
              <a:t>              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FFEF3C6-204B-448C-E969-84647DA91A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402" y="526550"/>
            <a:ext cx="11309196" cy="5804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27205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6307" y="399970"/>
            <a:ext cx="11531028" cy="6001552"/>
          </a:xfrm>
        </p:spPr>
        <p:txBody>
          <a:bodyPr/>
          <a:lstStyle/>
          <a:p>
            <a:pPr marL="216000">
              <a:lnSpc>
                <a:spcPct val="150000"/>
              </a:lnSpc>
            </a:pPr>
            <a:r>
              <a:rPr lang="en-US" sz="2800" b="1" dirty="0">
                <a:solidFill>
                  <a:schemeClr val="tx1"/>
                </a:solidFill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  <a:t>Project Overview</a:t>
            </a:r>
            <a:br>
              <a:rPr lang="en-US" sz="2000" b="1" dirty="0">
                <a:latin typeface="Times New Roman" panose="02020603050405020304" pitchFamily="18" charset="0"/>
                <a:ea typeface="Times New Roman"/>
                <a:cs typeface="Times New Roman" panose="02020603050405020304" pitchFamily="18" charset="0"/>
                <a:sym typeface="Times New Roman"/>
              </a:rPr>
            </a:br>
            <a:r>
              <a:rPr lang="en-US" sz="20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rPr>
              <a:t>Optimized solar power generation by analyzing inverter performance and weather data.</a:t>
            </a:r>
            <a:br>
              <a:rPr lang="en-US" sz="20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rPr>
            </a:br>
            <a:r>
              <a:rPr lang="en-US" sz="20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rPr>
              <a:t>Identified how irradiance, temperature, and rain affect energy output and efficiency.</a:t>
            </a:r>
            <a:br>
              <a:rPr lang="en-US" sz="2000" cap="none" dirty="0"/>
            </a:br>
            <a:r>
              <a:rPr lang="en-US" sz="2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Scope</a:t>
            </a:r>
            <a:br>
              <a:rPr lang="en-US" sz="2000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 Integration: </a:t>
            </a:r>
            <a:r>
              <a:rPr lang="en-US" sz="18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rPr>
              <a:t>Merged inverter (Watts) and weather data — irradiance (W/m²), temperature (°C), and 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rain.</a:t>
            </a:r>
            <a:b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Data Preprocessing</a:t>
            </a:r>
            <a: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sz="18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rPr>
              <a:t>Cleaned, formatted, and standardized timestamps for accurate analysis.</a:t>
            </a:r>
            <a:br>
              <a:rPr lang="en-US" sz="2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EDA (Python): </a:t>
            </a:r>
            <a:r>
              <a:rPr lang="en-US" sz="18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rPr>
              <a:t>Explored trends and correlations between weather and power output.</a:t>
            </a:r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SQL Analysis: </a:t>
            </a:r>
            <a:r>
              <a:rPr lang="en-US" sz="18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rPr>
              <a:t>Calculated average inverter output, irradiance levels, and profit per kWh.</a:t>
            </a:r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Power BI Visualization: </a:t>
            </a:r>
            <a:r>
              <a:rPr lang="en-US" sz="18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rPr>
              <a:t>Built dashboards for generation trends, efficiency, and weather impact.</a:t>
            </a:r>
            <a:b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Business Impact: </a:t>
            </a:r>
            <a:r>
              <a:rPr lang="en-US" sz="18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rPr>
              <a:t>Improved energy efficiency, reduced losses, and projected 30% revenue growth.</a:t>
            </a:r>
            <a:br>
              <a:rPr lang="en-US" sz="2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20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87265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2663" y="301083"/>
            <a:ext cx="11155564" cy="646771"/>
          </a:xfrm>
        </p:spPr>
        <p:txBody>
          <a:bodyPr>
            <a:normAutofit/>
          </a:bodyPr>
          <a:lstStyle/>
          <a:p>
            <a:pPr algn="ctr"/>
            <a:r>
              <a:rPr lang="en-US" sz="3200" b="1" dirty="0">
                <a:latin typeface="Times New Roman"/>
                <a:ea typeface="Times New Roman"/>
                <a:cs typeface="Times New Roman"/>
                <a:sym typeface="Times New Roman"/>
              </a:rPr>
              <a:t> Exploratory Data Analysis [EDA]</a:t>
            </a:r>
            <a:endParaRPr lang="en-US" sz="3200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274FF0BE-6697-3A88-BD17-50714A24B29E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472611" y="1387012"/>
            <a:ext cx="11065268" cy="4900772"/>
          </a:xfrm>
        </p:spPr>
      </p:pic>
    </p:spTree>
    <p:extLst>
      <p:ext uri="{BB962C8B-B14F-4D97-AF65-F5344CB8AC3E}">
        <p14:creationId xmlns:p14="http://schemas.microsoft.com/office/powerpoint/2010/main" val="12773194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EB472-2484-F66B-3264-F0CD30BBEA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893197"/>
          </a:xfrm>
        </p:spPr>
        <p:txBody>
          <a:bodyPr/>
          <a:lstStyle/>
          <a:p>
            <a:pPr algn="ctr"/>
            <a:r>
              <a:rPr lang="en-US" b="1" dirty="0">
                <a:latin typeface="Times New Roman"/>
                <a:ea typeface="Times New Roman"/>
                <a:cs typeface="Times New Roman"/>
                <a:sym typeface="Times New Roman"/>
              </a:rPr>
              <a:t>Data Preprocessing</a:t>
            </a:r>
            <a:endParaRPr lang="en-IN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9241C1DB-8403-48E0-BED0-3DFA282C911F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46111" y="1801814"/>
            <a:ext cx="10953413" cy="409214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3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Data Cleaning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– Removed unwanted rows, renamed columns, and trimmed spaces.</a:t>
            </a:r>
          </a:p>
          <a:p>
            <a:pPr marL="0" marR="0" lvl="0" indent="0" algn="l" defTabSz="914400" rtl="0" eaLnBrk="0" fontAlgn="base" latinLnBrk="0" hangingPunct="0">
              <a:lnSpc>
                <a:spcPct val="3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Data Type Conversion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– Converted date and inverter readings to proper formats.</a:t>
            </a:r>
          </a:p>
          <a:p>
            <a:pPr marL="0" marR="0" lvl="0" indent="0" algn="l" defTabSz="914400" rtl="0" eaLnBrk="0" fontAlgn="base" latinLnBrk="0" hangingPunct="0">
              <a:lnSpc>
                <a:spcPct val="3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Data Integration (Merging)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– Combined Inverter and WMS datasets on Date Time.</a:t>
            </a:r>
          </a:p>
          <a:p>
            <a:pPr marL="0" marR="0" lvl="0" indent="0" algn="l" defTabSz="914400" rtl="0" eaLnBrk="0" fontAlgn="base" latinLnBrk="0" hangingPunct="0">
              <a:lnSpc>
                <a:spcPct val="3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Data Transformation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– Standardized date-time and rounded numeric values.</a:t>
            </a:r>
          </a:p>
          <a:p>
            <a:pPr marL="0" marR="0" lvl="0" indent="0" algn="l" defTabSz="914400" rtl="0" eaLnBrk="0" fontAlgn="base" latinLnBrk="0" hangingPunct="0">
              <a:lnSpc>
                <a:spcPct val="3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Data Quality Check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– Checked for duplicates and missing values before export.</a:t>
            </a:r>
          </a:p>
        </p:txBody>
      </p:sp>
    </p:spTree>
    <p:extLst>
      <p:ext uri="{BB962C8B-B14F-4D97-AF65-F5344CB8AC3E}">
        <p14:creationId xmlns:p14="http://schemas.microsoft.com/office/powerpoint/2010/main" val="7023629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007F0E-A93D-F881-ED93-6A37187616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4310" y="261991"/>
            <a:ext cx="10364451" cy="521914"/>
          </a:xfrm>
        </p:spPr>
        <p:txBody>
          <a:bodyPr>
            <a:normAutofit fontScale="90000"/>
          </a:bodyPr>
          <a:lstStyle/>
          <a:p>
            <a:pPr algn="ctr"/>
            <a:r>
              <a:rPr lang="en-US" sz="3600" b="1" dirty="0">
                <a:latin typeface="Times New Roman"/>
                <a:ea typeface="Times New Roman"/>
                <a:cs typeface="Times New Roman"/>
                <a:sym typeface="Times New Roman"/>
              </a:rPr>
              <a:t>Data Visualization </a:t>
            </a:r>
            <a:endParaRPr lang="en-IN" dirty="0"/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2252EFDB-D88F-1556-DD9A-C87FC34A7D83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388054" y="1068512"/>
            <a:ext cx="11004926" cy="5527497"/>
          </a:xfrm>
        </p:spPr>
      </p:pic>
    </p:spTree>
    <p:extLst>
      <p:ext uri="{BB962C8B-B14F-4D97-AF65-F5344CB8AC3E}">
        <p14:creationId xmlns:p14="http://schemas.microsoft.com/office/powerpoint/2010/main" val="5543122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4B138D-0E06-29AF-37AE-5A7C586172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DA1596-5607-8877-84C3-A8C5C7DA35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6479" y="512956"/>
            <a:ext cx="11021748" cy="613318"/>
          </a:xfrm>
        </p:spPr>
        <p:txBody>
          <a:bodyPr>
            <a:noAutofit/>
          </a:bodyPr>
          <a:lstStyle/>
          <a:p>
            <a:pPr algn="ctr"/>
            <a:r>
              <a:rPr lang="en-US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Solution</a:t>
            </a: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28CDDD9A-EC13-C8AD-70EB-6FFD55BDA1CE}"/>
              </a:ext>
            </a:extLst>
          </p:cNvPr>
          <p:cNvSpPr>
            <a:spLocks noGrp="1" noChangeArrowheads="1"/>
          </p:cNvSpPr>
          <p:nvPr>
            <p:ph sz="quarter" idx="13"/>
          </p:nvPr>
        </p:nvSpPr>
        <p:spPr bwMode="auto">
          <a:xfrm>
            <a:off x="398792" y="1350986"/>
            <a:ext cx="11394415" cy="47076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indent="-342900" eaLnBrk="0" fontAlgn="base" hangingPunct="0">
              <a:lnSpc>
                <a:spcPct val="300000"/>
              </a:lnSpc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IN" sz="1800" b="1" dirty="0">
                <a:solidFill>
                  <a:schemeClr val="tx1"/>
                </a:solidFill>
                <a:latin typeface="Arial" panose="020B0604020202020204" pitchFamily="34" charset="0"/>
              </a:rPr>
              <a:t>Integrate Weather &amp; Irradiance Data for Operational Planning</a:t>
            </a:r>
          </a:p>
          <a:p>
            <a:pPr marL="342900" indent="-342900" eaLnBrk="0" fontAlgn="base" hangingPunct="0">
              <a:lnSpc>
                <a:spcPct val="300000"/>
              </a:lnSpc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IN" sz="1800" b="1" dirty="0">
                <a:solidFill>
                  <a:schemeClr val="tx1"/>
                </a:solidFill>
                <a:latin typeface="Arial" panose="020B0604020202020204" pitchFamily="34" charset="0"/>
              </a:rPr>
              <a:t>Align Maintenance Activities with Low-Generation Periods</a:t>
            </a:r>
          </a:p>
          <a:p>
            <a:pPr marL="342900" indent="-342900" eaLnBrk="0" fontAlgn="base" hangingPunct="0">
              <a:lnSpc>
                <a:spcPct val="300000"/>
              </a:lnSpc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IN" sz="1800" b="1" dirty="0">
                <a:solidFill>
                  <a:schemeClr val="tx1"/>
                </a:solidFill>
                <a:latin typeface="Arial" panose="020B0604020202020204" pitchFamily="34" charset="0"/>
              </a:rPr>
              <a:t>Enhance Module Temperature Control for Optimal Efficiency</a:t>
            </a:r>
          </a:p>
          <a:p>
            <a:pPr marL="342900" indent="-342900" eaLnBrk="0" fontAlgn="base" hangingPunct="0">
              <a:lnSpc>
                <a:spcPct val="300000"/>
              </a:lnSpc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IN" sz="1800" b="1" dirty="0">
                <a:solidFill>
                  <a:schemeClr val="tx1"/>
                </a:solidFill>
                <a:latin typeface="Arial" panose="020B0604020202020204" pitchFamily="34" charset="0"/>
              </a:rPr>
              <a:t>Implement Routine Cleaning to Minimize Performance Losses</a:t>
            </a:r>
          </a:p>
          <a:p>
            <a:pPr marL="342900" indent="-342900" eaLnBrk="0" fontAlgn="base" hangingPunct="0">
              <a:lnSpc>
                <a:spcPct val="300000"/>
              </a:lnSpc>
              <a:spcBef>
                <a:spcPts val="600"/>
              </a:spcBef>
              <a:spcAft>
                <a:spcPts val="600"/>
              </a:spcAft>
              <a:buFont typeface="+mj-lt"/>
              <a:buAutoNum type="arabicPeriod"/>
            </a:pPr>
            <a:r>
              <a:rPr lang="en-IN" sz="1800" b="1" dirty="0">
                <a:solidFill>
                  <a:schemeClr val="tx1"/>
                </a:solidFill>
                <a:latin typeface="Arial" panose="020B0604020202020204" pitchFamily="34" charset="0"/>
              </a:rPr>
              <a:t>Enable Real-Time Inverter Monitoring &amp; Quick Response</a:t>
            </a:r>
          </a:p>
        </p:txBody>
      </p:sp>
    </p:spTree>
    <p:extLst>
      <p:ext uri="{BB962C8B-B14F-4D97-AF65-F5344CB8AC3E}">
        <p14:creationId xmlns:p14="http://schemas.microsoft.com/office/powerpoint/2010/main" val="1347628592"/>
      </p:ext>
    </p:extLst>
  </p:cSld>
  <p:clrMapOvr>
    <a:masterClrMapping/>
  </p:clrMapOvr>
</p:sld>
</file>

<file path=ppt/theme/theme1.xml><?xml version="1.0" encoding="utf-8"?>
<a:theme xmlns:a="http://schemas.openxmlformats.org/drawingml/2006/main" name="Depth">
  <a:themeElements>
    <a:clrScheme name="Depth">
      <a:dk1>
        <a:sysClr val="windowText" lastClr="000000"/>
      </a:dk1>
      <a:lt1>
        <a:sysClr val="window" lastClr="FFFFFF"/>
      </a:lt1>
      <a:dk2>
        <a:srgbClr val="455F51"/>
      </a:dk2>
      <a:lt2>
        <a:srgbClr val="94D7E4"/>
      </a:lt2>
      <a:accent1>
        <a:srgbClr val="41AEBD"/>
      </a:accent1>
      <a:accent2>
        <a:srgbClr val="97E9D5"/>
      </a:accent2>
      <a:accent3>
        <a:srgbClr val="A2CF49"/>
      </a:accent3>
      <a:accent4>
        <a:srgbClr val="608F3D"/>
      </a:accent4>
      <a:accent5>
        <a:srgbClr val="F4DE3A"/>
      </a:accent5>
      <a:accent6>
        <a:srgbClr val="FCB11C"/>
      </a:accent6>
      <a:hlink>
        <a:srgbClr val="FBCA98"/>
      </a:hlink>
      <a:folHlink>
        <a:srgbClr val="D3B86D"/>
      </a:folHlink>
    </a:clrScheme>
    <a:fontScheme name="Depth">
      <a:majorFont>
        <a:latin typeface="Corbel" panose="020B0503020204020204"/>
        <a:ea typeface=""/>
        <a:cs typeface=""/>
        <a:font script="Jpan" typeface="メイリオ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メイリオ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epth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epth" id="{7BEAFC2A-325C-49C4-AC08-2B765DA903F9}" vid="{1735E755-43E6-43AA-ABA2-C989ECC79AF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TM04033923[[fn=Depth]]</Template>
  <TotalTime>3411</TotalTime>
  <Words>366</Words>
  <Application>Microsoft Office PowerPoint</Application>
  <PresentationFormat>Widescreen</PresentationFormat>
  <Paragraphs>35</Paragraphs>
  <Slides>10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8" baseType="lpstr">
      <vt:lpstr>Aptos Display</vt:lpstr>
      <vt:lpstr>Arial</vt:lpstr>
      <vt:lpstr>Calibri</vt:lpstr>
      <vt:lpstr>Corbel</vt:lpstr>
      <vt:lpstr>Georgia</vt:lpstr>
      <vt:lpstr>Times New Roman</vt:lpstr>
      <vt:lpstr>Wingdings</vt:lpstr>
      <vt:lpstr>Depth</vt:lpstr>
      <vt:lpstr>PowerPoint Presentation</vt:lpstr>
      <vt:lpstr>Content</vt:lpstr>
      <vt:lpstr>PowerPoint Presentation</vt:lpstr>
      <vt:lpstr> Data Dictionary </vt:lpstr>
      <vt:lpstr>               </vt:lpstr>
      <vt:lpstr>Project Overview Optimized solar power generation by analyzing inverter performance and weather data. Identified how irradiance, temperature, and rain affect energy output and efficiency. Scope Data Integration: Merged inverter (Watts) and weather data — irradiance (W/m²), temperature (°C), and rain. Data Preprocessing: Cleaned, formatted, and standardized timestamps for accurate analysis. EDA (Python): Explored trends and correlations between weather and power output. SQL Analysis: Calculated average inverter output, irradiance levels, and profit per kWh. Power BI Visualization: Built dashboards for generation trends, efficiency, and weather impact. Business Impact: Improved energy efficiency, reduced losses, and projected 30% revenue growth. </vt:lpstr>
      <vt:lpstr> Exploratory Data Analysis [EDA]</vt:lpstr>
      <vt:lpstr>Data Preprocessing</vt:lpstr>
      <vt:lpstr>Data Visualization </vt:lpstr>
      <vt:lpstr>Solution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VIKAS BARTHWAL</dc:creator>
  <cp:lastModifiedBy>Shruti Chigare</cp:lastModifiedBy>
  <cp:revision>56</cp:revision>
  <dcterms:created xsi:type="dcterms:W3CDTF">2022-02-16T01:47:29Z</dcterms:created>
  <dcterms:modified xsi:type="dcterms:W3CDTF">2025-11-20T15:34:00Z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49deba9595b64033890e84905b5c3bc0</vt:lpwstr>
  </property>
</Properties>
</file>